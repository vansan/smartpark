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B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B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E0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515600" y="274320"/>
            <a:ext cx="73152" cy="731520"/>
          </a:xfrm>
          <a:prstGeom prst="rect">
            <a:avLst/>
          </a:prstGeom>
          <a:solidFill>
            <a:srgbClr val="E0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588752" y="274320"/>
            <a:ext cx="530352" cy="246888"/>
          </a:xfrm>
          <a:prstGeom prst="rect">
            <a:avLst/>
          </a:prstGeom>
          <a:solidFill>
            <a:srgbClr val="00B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588752" y="521207"/>
            <a:ext cx="530352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588752" y="768096"/>
            <a:ext cx="530352" cy="246888"/>
          </a:xfrm>
          <a:prstGeom prst="rect">
            <a:avLst/>
          </a:prstGeom>
          <a:solidFill>
            <a:srgbClr val="070B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9144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</a:rPr>
              <a:t>🅿  SmartPark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43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00B05C"/>
                </a:solidFill>
              </a:rPr>
              <a:t>Smart Parking Management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29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29087"/>
                </a:solidFill>
              </a:rPr>
              <a:t>Proof of Concept  ·  UAE  · 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2636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🌐  smartpark-lac.vercel.app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29087"/>
                </a:solidFill>
              </a:rPr>
              <a:t>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B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7238" cy="73152"/>
          </a:xfrm>
          <a:prstGeom prst="rect">
            <a:avLst/>
          </a:prstGeom>
          <a:solidFill>
            <a:srgbClr val="E0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238" y="0"/>
            <a:ext cx="3047238" cy="73152"/>
          </a:xfrm>
          <a:prstGeom prst="rect">
            <a:avLst/>
          </a:prstGeom>
          <a:solidFill>
            <a:srgbClr val="00B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4476" y="0"/>
            <a:ext cx="3047238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1714" y="0"/>
            <a:ext cx="3047238" cy="73152"/>
          </a:xfrm>
          <a:prstGeom prst="rect">
            <a:avLst/>
          </a:prstGeom>
          <a:solidFill>
            <a:srgbClr val="070B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02A3C"/>
                </a:solidFill>
              </a:rPr>
              <a:t>Parking today is broken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11247120" cy="777240"/>
          </a:xfrm>
          <a:prstGeom prst="rect">
            <a:avLst/>
          </a:prstGeom>
          <a:solidFill>
            <a:srgbClr val="162019"/>
          </a:solidFill>
          <a:ln w="12700">
            <a:solidFill>
              <a:srgbClr val="E02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140817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Drivers circle 10-15 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177393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29087"/>
                </a:solidFill>
              </a:rPr>
              <a:t>No visibility of free slots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1508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02A3C"/>
                </a:solidFill>
              </a:rPr>
              <a:t>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31720"/>
            <a:ext cx="11247120" cy="777240"/>
          </a:xfrm>
          <a:prstGeom prst="rect">
            <a:avLst/>
          </a:prstGeom>
          <a:solidFill>
            <a:srgbClr val="162019"/>
          </a:solidFill>
          <a:ln w="12700">
            <a:solidFill>
              <a:srgbClr val="E02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377439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36829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Paper tickets &amp; manual entry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273405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29087"/>
                </a:solidFill>
              </a:rPr>
              <a:t>Human error, revenue leakage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46887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02A3C"/>
                </a:solidFill>
              </a:rPr>
              <a:t>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291840"/>
            <a:ext cx="11247120" cy="777240"/>
          </a:xfrm>
          <a:prstGeom prst="rect">
            <a:avLst/>
          </a:prstGeom>
          <a:solidFill>
            <a:srgbClr val="162019"/>
          </a:solidFill>
          <a:ln w="12700">
            <a:solidFill>
              <a:srgbClr val="E02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33756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332841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No digital booking system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369417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29087"/>
                </a:solidFill>
              </a:rPr>
              <a:t>Slots double-booked or wasted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3429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02A3C"/>
                </a:solidFill>
              </a:rPr>
              <a:t>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251960"/>
            <a:ext cx="11247120" cy="777240"/>
          </a:xfrm>
          <a:prstGeom prst="rect">
            <a:avLst/>
          </a:prstGeom>
          <a:solidFill>
            <a:srgbClr val="162019"/>
          </a:solidFill>
          <a:ln w="12700">
            <a:solidFill>
              <a:srgbClr val="E02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29768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428853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Guards check passes manually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465429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29087"/>
                </a:solidFill>
              </a:rPr>
              <a:t>Slow, error-prone, no audit trail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4389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02A3C"/>
                </a:solidFill>
              </a:rPr>
              <a:t>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212080"/>
            <a:ext cx="11247120" cy="777240"/>
          </a:xfrm>
          <a:prstGeom prst="rect">
            <a:avLst/>
          </a:prstGeom>
          <a:solidFill>
            <a:srgbClr val="162019"/>
          </a:solidFill>
          <a:ln w="12700">
            <a:solidFill>
              <a:srgbClr val="E02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25780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⏱️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4440" y="524865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Expired bookings stay locked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34440" y="561441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29087"/>
                </a:solidFill>
              </a:rPr>
              <a:t>Good slots wasted, revenue lost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5349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02A3C"/>
                </a:solidFill>
              </a:rPr>
              <a:t>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29087"/>
                </a:solidFill>
              </a:rP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B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7238" cy="73152"/>
          </a:xfrm>
          <a:prstGeom prst="rect">
            <a:avLst/>
          </a:prstGeom>
          <a:solidFill>
            <a:srgbClr val="E0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238" y="0"/>
            <a:ext cx="3047238" cy="73152"/>
          </a:xfrm>
          <a:prstGeom prst="rect">
            <a:avLst/>
          </a:prstGeom>
          <a:solidFill>
            <a:srgbClr val="00B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4476" y="0"/>
            <a:ext cx="3047238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1714" y="0"/>
            <a:ext cx="3047238" cy="73152"/>
          </a:xfrm>
          <a:prstGeom prst="rect">
            <a:avLst/>
          </a:prstGeom>
          <a:solidFill>
            <a:srgbClr val="070B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SmartPark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B05C"/>
                </a:solidFill>
              </a:rPr>
              <a:t>One platform · Three roles · Real-time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3657600" cy="5029200"/>
          </a:xfrm>
          <a:prstGeom prst="rect">
            <a:avLst/>
          </a:prstGeom>
          <a:solidFill>
            <a:srgbClr val="162019"/>
          </a:solidFill>
          <a:ln w="19050">
            <a:solidFill>
              <a:srgbClr val="00B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630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</a:rPr>
              <a:t>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1508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B05C"/>
                </a:solidFill>
              </a:rPr>
              <a:t>Driver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24028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✓  Find free slots on live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06324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✓  Book by date, time &amp; duration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88620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✓  Prepaid · QR code entry pass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70916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✓  Countdown timer on booking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1371600"/>
            <a:ext cx="3657600" cy="5029200"/>
          </a:xfrm>
          <a:prstGeom prst="rect">
            <a:avLst/>
          </a:prstGeom>
          <a:solidFill>
            <a:srgbClr val="162019"/>
          </a:solidFill>
          <a:ln w="19050">
            <a:solidFill>
              <a:srgbClr val="E02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14630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</a:rPr>
              <a:t>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59" y="1508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02A3C"/>
                </a:solidFill>
              </a:rPr>
              <a:t>Operator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224028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✓  Real-time slot 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306324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✓  Full booking audit trail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388620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✓  Auto-release expired slots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470916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✓  VAT-compliant billing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21040" y="1371600"/>
            <a:ext cx="3657600" cy="5029200"/>
          </a:xfrm>
          <a:prstGeom prst="rect">
            <a:avLst/>
          </a:prstGeom>
          <a:solidFill>
            <a:srgbClr val="162019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19" y="14630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</a:rPr>
              <a:t>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8280" y="1508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Guard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9640" y="224028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✓  QR scanner on any device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9640" y="306324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✓  Instant booking validation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388620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✓  Slot marked occupied on scan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9640" y="470916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✓  No hardware required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29087"/>
                </a:solidFill>
              </a:rP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B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7238" cy="73152"/>
          </a:xfrm>
          <a:prstGeom prst="rect">
            <a:avLst/>
          </a:prstGeom>
          <a:solidFill>
            <a:srgbClr val="E0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238" y="0"/>
            <a:ext cx="3047238" cy="73152"/>
          </a:xfrm>
          <a:prstGeom prst="rect">
            <a:avLst/>
          </a:prstGeom>
          <a:solidFill>
            <a:srgbClr val="00B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4476" y="0"/>
            <a:ext cx="3047238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1714" y="0"/>
            <a:ext cx="3047238" cy="73152"/>
          </a:xfrm>
          <a:prstGeom prst="rect">
            <a:avLst/>
          </a:prstGeom>
          <a:solidFill>
            <a:srgbClr val="070B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Complete Booking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686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B05C"/>
                </a:solidFill>
              </a:rPr>
              <a:t>End-to-end · Live demo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2743200" cy="2103120"/>
          </a:xfrm>
          <a:prstGeom prst="rect">
            <a:avLst/>
          </a:prstGeom>
          <a:solidFill>
            <a:srgbClr val="162019"/>
          </a:solidFill>
          <a:ln w="12700">
            <a:solidFill>
              <a:srgbClr val="00B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371600"/>
            <a:ext cx="2743200" cy="502920"/>
          </a:xfrm>
          <a:prstGeom prst="rect">
            <a:avLst/>
          </a:prstGeom>
          <a:solidFill>
            <a:srgbClr val="00B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43560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70B08"/>
                </a:solidFill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9659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Login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46888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29087"/>
                </a:solidFill>
              </a:rPr>
              <a:t>Google Sign-In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79" y="21488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0B05C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37560" y="1371600"/>
            <a:ext cx="2743200" cy="2103120"/>
          </a:xfrm>
          <a:prstGeom prst="rect">
            <a:avLst/>
          </a:prstGeom>
          <a:solidFill>
            <a:srgbClr val="162019"/>
          </a:solidFill>
          <a:ln w="12700">
            <a:solidFill>
              <a:srgbClr val="00B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37560" y="1371600"/>
            <a:ext cx="2743200" cy="502920"/>
          </a:xfrm>
          <a:prstGeom prst="rect">
            <a:avLst/>
          </a:prstGeom>
          <a:solidFill>
            <a:srgbClr val="00B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0" y="143560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70B08"/>
                </a:solidFill>
              </a:rPr>
              <a:t>Step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19659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Map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246888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29087"/>
                </a:solidFill>
              </a:rPr>
              <a:t>See Dubai parking locations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79" y="21488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0B05C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1371600"/>
            <a:ext cx="2743200" cy="2103120"/>
          </a:xfrm>
          <a:prstGeom prst="rect">
            <a:avLst/>
          </a:prstGeom>
          <a:solidFill>
            <a:srgbClr val="162019"/>
          </a:solidFill>
          <a:ln w="12700">
            <a:solidFill>
              <a:srgbClr val="00B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1371600"/>
            <a:ext cx="2743200" cy="502920"/>
          </a:xfrm>
          <a:prstGeom prst="rect">
            <a:avLst/>
          </a:prstGeom>
          <a:solidFill>
            <a:srgbClr val="00B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143560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70B08"/>
                </a:solidFill>
              </a:rPr>
              <a:t>Step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19659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Slot Grid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246888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29087"/>
                </a:solidFill>
              </a:rPr>
              <a:t>Pick a free slot (🟢)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21488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0B05C"/>
                </a:solidFill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81160" y="1371600"/>
            <a:ext cx="2743200" cy="2103120"/>
          </a:xfrm>
          <a:prstGeom prst="rect">
            <a:avLst/>
          </a:prstGeom>
          <a:solidFill>
            <a:srgbClr val="162019"/>
          </a:solidFill>
          <a:ln w="12700">
            <a:solidFill>
              <a:srgbClr val="00B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281160" y="1371600"/>
            <a:ext cx="2743200" cy="502920"/>
          </a:xfrm>
          <a:prstGeom prst="rect">
            <a:avLst/>
          </a:prstGeom>
          <a:solidFill>
            <a:srgbClr val="00B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0" y="143560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70B08"/>
                </a:solidFill>
              </a:rPr>
              <a:t>Step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19659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Date &amp; Time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0" y="246888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29087"/>
                </a:solidFill>
              </a:rPr>
              <a:t>Select date, time, duration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3931920"/>
            <a:ext cx="2743200" cy="2103120"/>
          </a:xfrm>
          <a:prstGeom prst="rect">
            <a:avLst/>
          </a:prstGeom>
          <a:solidFill>
            <a:srgbClr val="162019"/>
          </a:solidFill>
          <a:ln w="12700">
            <a:solidFill>
              <a:srgbClr val="00B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5760" y="3931920"/>
            <a:ext cx="2743200" cy="502920"/>
          </a:xfrm>
          <a:prstGeom prst="rect">
            <a:avLst/>
          </a:prstGeom>
          <a:solidFill>
            <a:srgbClr val="00B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399592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70B08"/>
                </a:solidFill>
              </a:rPr>
              <a:t>Step 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45262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Payment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502920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29087"/>
                </a:solidFill>
              </a:rPr>
              <a:t>AED 5/hr + 5% VAT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54679" y="4709159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0B05C"/>
                </a:solidFill>
              </a:rPr>
              <a:t>→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37560" y="3931920"/>
            <a:ext cx="2743200" cy="2103120"/>
          </a:xfrm>
          <a:prstGeom prst="rect">
            <a:avLst/>
          </a:prstGeom>
          <a:solidFill>
            <a:srgbClr val="162019"/>
          </a:solidFill>
          <a:ln w="12700">
            <a:solidFill>
              <a:srgbClr val="00B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337560" y="3931920"/>
            <a:ext cx="2743200" cy="502920"/>
          </a:xfrm>
          <a:prstGeom prst="rect">
            <a:avLst/>
          </a:prstGeom>
          <a:solidFill>
            <a:srgbClr val="00B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74720" y="399592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70B08"/>
                </a:solidFill>
              </a:rPr>
              <a:t>Step 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74720" y="45262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QR Code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74720" y="502920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29087"/>
                </a:solidFill>
              </a:rPr>
              <a:t>Booking confirmed + QR pass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79" y="4709159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0B05C"/>
                </a:solidFill>
              </a:rPr>
              <a:t>→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09360" y="3931920"/>
            <a:ext cx="2743200" cy="2103120"/>
          </a:xfrm>
          <a:prstGeom prst="rect">
            <a:avLst/>
          </a:prstGeom>
          <a:solidFill>
            <a:srgbClr val="162019"/>
          </a:solidFill>
          <a:ln w="12700">
            <a:solidFill>
              <a:srgbClr val="00B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09360" y="3931920"/>
            <a:ext cx="2743200" cy="502920"/>
          </a:xfrm>
          <a:prstGeom prst="rect">
            <a:avLst/>
          </a:prstGeom>
          <a:solidFill>
            <a:srgbClr val="00B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46520" y="399592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70B08"/>
                </a:solidFill>
              </a:rPr>
              <a:t>Step 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45262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Guard Scan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46520" y="502920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29087"/>
                </a:solidFill>
              </a:rPr>
              <a:t>QR scanned → slot occupied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29087"/>
                </a:solidFill>
              </a:rP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B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7238" cy="73152"/>
          </a:xfrm>
          <a:prstGeom prst="rect">
            <a:avLst/>
          </a:prstGeom>
          <a:solidFill>
            <a:srgbClr val="E0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238" y="0"/>
            <a:ext cx="3047238" cy="73152"/>
          </a:xfrm>
          <a:prstGeom prst="rect">
            <a:avLst/>
          </a:prstGeom>
          <a:solidFill>
            <a:srgbClr val="00B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4476" y="0"/>
            <a:ext cx="3047238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1714" y="0"/>
            <a:ext cx="3047238" cy="73152"/>
          </a:xfrm>
          <a:prstGeom prst="rect">
            <a:avLst/>
          </a:prstGeom>
          <a:solidFill>
            <a:srgbClr val="070B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Prepaid Payment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686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B05C"/>
                </a:solidFill>
              </a:rPr>
              <a:t>Transparent · VAT-compliant · Fraud-proof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5303520" cy="5029200"/>
          </a:xfrm>
          <a:prstGeom prst="rect">
            <a:avLst/>
          </a:prstGeom>
          <a:solidFill>
            <a:srgbClr val="162019"/>
          </a:solidFill>
          <a:ln w="19050">
            <a:solidFill>
              <a:srgbClr val="00B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5087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B05C"/>
                </a:solidFill>
              </a:rPr>
              <a:t>Sample Invoice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0312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29087"/>
                </a:solidFill>
              </a:rPr>
              <a:t>Dubai Mall · Slot P03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10312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48716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29087"/>
                </a:solidFill>
              </a:rPr>
              <a:t>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48716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</a:rPr>
              <a:t>07 Jun 2025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871215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29087"/>
                </a:solidFill>
              </a:rPr>
              <a:t>Start 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871215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</a:rPr>
              <a:t>10:00 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255263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29087"/>
                </a:solidFill>
              </a:rPr>
              <a:t>End 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3255263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</a:rPr>
              <a:t>12:00 PM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639311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29087"/>
                </a:solidFill>
              </a:rPr>
              <a:t>Duration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3639311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</a:rPr>
              <a:t>2 hours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0233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29087"/>
                </a:solidFill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402336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40740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29087"/>
                </a:solidFill>
              </a:rPr>
              <a:t>Parking (AED 5 × 2 hrs)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440740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</a:rPr>
              <a:t>AED 10.00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79145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29087"/>
                </a:solidFill>
              </a:rPr>
              <a:t>VAT (5%)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4791456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</a:rPr>
              <a:t>AED 0.50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17550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─────────────────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5175504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</a:rPr>
              <a:t>──────────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55955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05C"/>
                </a:solidFill>
              </a:rPr>
              <a:t>TOTAL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5559552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>
                <a:solidFill>
                  <a:srgbClr val="00B05C"/>
                </a:solidFill>
              </a:rPr>
              <a:t>AED 10.50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1371600"/>
            <a:ext cx="5394960" cy="5029200"/>
          </a:xfrm>
          <a:prstGeom prst="rect">
            <a:avLst/>
          </a:prstGeom>
          <a:solidFill>
            <a:srgbClr val="162019"/>
          </a:solidFill>
          <a:ln w="19050">
            <a:solidFill>
              <a:srgbClr val="E02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15087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02A3C"/>
                </a:solidFill>
              </a:rPr>
              <a:t>Why Prepaid?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2103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95160" y="210312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No revenue leakage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95160" y="2450591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29087"/>
                </a:solidFill>
              </a:rPr>
              <a:t>Slot guaranteed only after payment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2907791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95160" y="2907791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Fraud prevention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95160" y="3255263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29087"/>
                </a:solidFill>
              </a:rPr>
              <a:t>QR ties payment to specific slot &amp; time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3712463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🧾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95160" y="3712463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VAT compliance built-in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95160" y="4059935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29087"/>
                </a:solidFill>
              </a:rPr>
              <a:t>5% UAE VAT calculated automatically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0" y="451713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💳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95160" y="4517136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Gateway-ready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95160" y="4864607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29087"/>
                </a:solidFill>
              </a:rPr>
              <a:t>Plug in Stripe, Telr, or any UAE PSP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92240" y="53218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95160" y="5321808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Full audit trail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95160" y="566928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29087"/>
                </a:solidFill>
              </a:rPr>
              <a:t>Every transaction logged with timestamp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29087"/>
                </a:solidFill>
              </a:rP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B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7238" cy="73152"/>
          </a:xfrm>
          <a:prstGeom prst="rect">
            <a:avLst/>
          </a:prstGeom>
          <a:solidFill>
            <a:srgbClr val="E0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238" y="0"/>
            <a:ext cx="3047238" cy="73152"/>
          </a:xfrm>
          <a:prstGeom prst="rect">
            <a:avLst/>
          </a:prstGeom>
          <a:solidFill>
            <a:srgbClr val="00B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4476" y="0"/>
            <a:ext cx="3047238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1714" y="0"/>
            <a:ext cx="3047238" cy="73152"/>
          </a:xfrm>
          <a:prstGeom prst="rect">
            <a:avLst/>
          </a:prstGeom>
          <a:solidFill>
            <a:srgbClr val="070B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QR Entry &amp; Guard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686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B05C"/>
                </a:solidFill>
              </a:rPr>
              <a:t>Zero paperwork · Instant validation · Any device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417320"/>
            <a:ext cx="2103120" cy="3200400"/>
          </a:xfrm>
          <a:prstGeom prst="rect">
            <a:avLst/>
          </a:prstGeom>
          <a:solidFill>
            <a:srgbClr val="162019"/>
          </a:solidFill>
          <a:ln w="12700">
            <a:solidFill>
              <a:srgbClr val="00B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15544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</a:rPr>
              <a:t>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B05C"/>
                </a:solidFill>
              </a:rPr>
              <a:t>Driver Books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83464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29087"/>
                </a:solidFill>
              </a:rPr>
              <a:t>Selects slot,
pays online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219456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B05C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97479" y="1417320"/>
            <a:ext cx="2103120" cy="3200400"/>
          </a:xfrm>
          <a:prstGeom prst="rect">
            <a:avLst/>
          </a:prstGeom>
          <a:solidFill>
            <a:srgbClr val="162019"/>
          </a:solidFill>
          <a:ln w="12700">
            <a:solidFill>
              <a:srgbClr val="00B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15544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23317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B05C"/>
                </a:solidFill>
              </a:rPr>
              <a:t>QR Generated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283464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29087"/>
                </a:solidFill>
              </a:rPr>
              <a:t>Unique QR tied
to booking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219456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B05C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0" y="1417320"/>
            <a:ext cx="2103120" cy="3200400"/>
          </a:xfrm>
          <a:prstGeom prst="rect">
            <a:avLst/>
          </a:prstGeom>
          <a:solidFill>
            <a:srgbClr val="162019"/>
          </a:solidFill>
          <a:ln w="12700">
            <a:solidFill>
              <a:srgbClr val="00B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06440" y="15544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</a:rPr>
              <a:t>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23317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B05C"/>
                </a:solidFill>
              </a:rPr>
              <a:t>Arrives at Gate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283464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29087"/>
                </a:solidFill>
              </a:rPr>
              <a:t>Opens app,
shows QR code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219456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B05C"/>
                </a:solidFill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60919" y="1417320"/>
            <a:ext cx="2103120" cy="3200400"/>
          </a:xfrm>
          <a:prstGeom prst="rect">
            <a:avLst/>
          </a:prstGeom>
          <a:solidFill>
            <a:srgbClr val="162019"/>
          </a:solidFill>
          <a:ln w="12700">
            <a:solidFill>
              <a:srgbClr val="00B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8159" y="15544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</a:rPr>
              <a:t>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59" y="23317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B05C"/>
                </a:solidFill>
              </a:rPr>
              <a:t>Guard Scans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59" y="283464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29087"/>
                </a:solidFill>
              </a:rPr>
              <a:t>Any phone/tablet
with camera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59" y="219456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B05C"/>
                </a:solidFill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92640" y="1417320"/>
            <a:ext cx="2103120" cy="3200400"/>
          </a:xfrm>
          <a:prstGeom prst="rect">
            <a:avLst/>
          </a:prstGeom>
          <a:solidFill>
            <a:srgbClr val="162019"/>
          </a:solidFill>
          <a:ln w="12700">
            <a:solidFill>
              <a:srgbClr val="00B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469880" y="15544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</a:rPr>
              <a:t>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0" y="23317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B05C"/>
                </a:solidFill>
              </a:rPr>
              <a:t>Entry Granted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84080" y="283464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29087"/>
                </a:solidFill>
              </a:rPr>
              <a:t>Slot marked
Occupied instantly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846320"/>
            <a:ext cx="2743200" cy="640080"/>
          </a:xfrm>
          <a:prstGeom prst="rect">
            <a:avLst/>
          </a:prstGeom>
          <a:solidFill>
            <a:srgbClr val="00B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491947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70B08"/>
                </a:solidFill>
              </a:rPr>
              <a:t>No hardware barriers needed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01568" y="4846320"/>
            <a:ext cx="2743200" cy="640080"/>
          </a:xfrm>
          <a:prstGeom prst="rect">
            <a:avLst/>
          </a:prstGeom>
          <a:solidFill>
            <a:srgbClr val="00B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38728" y="491947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70B08"/>
                </a:solidFill>
              </a:rPr>
              <a:t>Works on any smartphone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45936" y="4846320"/>
            <a:ext cx="2743200" cy="640080"/>
          </a:xfrm>
          <a:prstGeom prst="rect">
            <a:avLst/>
          </a:prstGeom>
          <a:solidFill>
            <a:srgbClr val="00B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83096" y="491947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70B08"/>
                </a:solidFill>
              </a:rPr>
              <a:t>Complete audit trail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290304" y="4846320"/>
            <a:ext cx="2743200" cy="640080"/>
          </a:xfrm>
          <a:prstGeom prst="rect">
            <a:avLst/>
          </a:prstGeom>
          <a:solidFill>
            <a:srgbClr val="00B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427464" y="491947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70B08"/>
                </a:solidFill>
              </a:rPr>
              <a:t>Auto-releases after end time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29087"/>
                </a:solidFill>
              </a:rP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B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7238" cy="73152"/>
          </a:xfrm>
          <a:prstGeom prst="rect">
            <a:avLst/>
          </a:prstGeom>
          <a:solidFill>
            <a:srgbClr val="E0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238" y="0"/>
            <a:ext cx="3047238" cy="73152"/>
          </a:xfrm>
          <a:prstGeom prst="rect">
            <a:avLst/>
          </a:prstGeom>
          <a:solidFill>
            <a:srgbClr val="00B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4476" y="0"/>
            <a:ext cx="3047238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1714" y="0"/>
            <a:ext cx="3047238" cy="73152"/>
          </a:xfrm>
          <a:prstGeom prst="rect">
            <a:avLst/>
          </a:prstGeom>
          <a:solidFill>
            <a:srgbClr val="070B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686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B05C"/>
                </a:solidFill>
              </a:rPr>
              <a:t>Production-grade · Cloud-native · Scalable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5577840" cy="1005840"/>
          </a:xfrm>
          <a:prstGeom prst="rect">
            <a:avLst/>
          </a:prstGeom>
          <a:solidFill>
            <a:srgbClr val="162019"/>
          </a:solidFill>
          <a:ln w="12700">
            <a:solidFill>
              <a:srgbClr val="00B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71600"/>
            <a:ext cx="164592" cy="1005840"/>
          </a:xfrm>
          <a:prstGeom prst="rect">
            <a:avLst/>
          </a:prstGeom>
          <a:solidFill>
            <a:srgbClr val="00B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44475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Flutter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87451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29087"/>
                </a:solidFill>
              </a:rPr>
              <a:t>One codebase → Web, iOS, Android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371600"/>
            <a:ext cx="5577840" cy="1005840"/>
          </a:xfrm>
          <a:prstGeom prst="rect">
            <a:avLst/>
          </a:prstGeom>
          <a:solidFill>
            <a:srgbClr val="162019"/>
          </a:solidFill>
          <a:ln w="12700">
            <a:solidFill>
              <a:srgbClr val="00B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371600"/>
            <a:ext cx="164592" cy="1005840"/>
          </a:xfrm>
          <a:prstGeom prst="rect">
            <a:avLst/>
          </a:prstGeom>
          <a:solidFill>
            <a:srgbClr val="00B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0" y="144475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Firebase Auth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187451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29087"/>
                </a:solidFill>
              </a:rPr>
              <a:t>Google Sign-In · Enterprise security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560320"/>
            <a:ext cx="5577840" cy="1005840"/>
          </a:xfrm>
          <a:prstGeom prst="rect">
            <a:avLst/>
          </a:prstGeom>
          <a:solidFill>
            <a:srgbClr val="162019"/>
          </a:solidFill>
          <a:ln w="12700">
            <a:solidFill>
              <a:srgbClr val="00B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2560320"/>
            <a:ext cx="164592" cy="1005840"/>
          </a:xfrm>
          <a:prstGeom prst="rect">
            <a:avLst/>
          </a:prstGeom>
          <a:solidFill>
            <a:srgbClr val="00B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263347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Cloud Firestore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06323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29087"/>
                </a:solidFill>
              </a:rPr>
              <a:t>Real-time NoSQL · Auto-scaling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2560320"/>
            <a:ext cx="5577840" cy="1005840"/>
          </a:xfrm>
          <a:prstGeom prst="rect">
            <a:avLst/>
          </a:prstGeom>
          <a:solidFill>
            <a:srgbClr val="162019"/>
          </a:solidFill>
          <a:ln w="12700">
            <a:solidFill>
              <a:srgbClr val="00B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2560320"/>
            <a:ext cx="164592" cy="1005840"/>
          </a:xfrm>
          <a:prstGeom prst="rect">
            <a:avLst/>
          </a:prstGeom>
          <a:solidFill>
            <a:srgbClr val="00B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20840" y="263347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Riverpod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306323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29087"/>
                </a:solidFill>
              </a:rPr>
              <a:t>State management · Reactive UI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749039"/>
            <a:ext cx="5577840" cy="1005840"/>
          </a:xfrm>
          <a:prstGeom prst="rect">
            <a:avLst/>
          </a:prstGeom>
          <a:solidFill>
            <a:srgbClr val="162019"/>
          </a:solidFill>
          <a:ln w="12700">
            <a:solidFill>
              <a:srgbClr val="00B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3749039"/>
            <a:ext cx="164592" cy="1005840"/>
          </a:xfrm>
          <a:prstGeom prst="rect">
            <a:avLst/>
          </a:prstGeom>
          <a:solidFill>
            <a:srgbClr val="00B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3822191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Google Maps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25195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29087"/>
                </a:solidFill>
              </a:rPr>
              <a:t>Live map integration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3749039"/>
            <a:ext cx="5577840" cy="1005840"/>
          </a:xfrm>
          <a:prstGeom prst="rect">
            <a:avLst/>
          </a:prstGeom>
          <a:solidFill>
            <a:srgbClr val="162019"/>
          </a:solidFill>
          <a:ln w="12700">
            <a:solidFill>
              <a:srgbClr val="00B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0" y="3749039"/>
            <a:ext cx="164592" cy="1005840"/>
          </a:xfrm>
          <a:prstGeom prst="rect">
            <a:avLst/>
          </a:prstGeom>
          <a:solidFill>
            <a:srgbClr val="00B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20840" y="3822191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GoRouter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425195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29087"/>
                </a:solidFill>
              </a:rPr>
              <a:t>Deep-linking · URL navigation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937760"/>
            <a:ext cx="5577840" cy="1005840"/>
          </a:xfrm>
          <a:prstGeom prst="rect">
            <a:avLst/>
          </a:prstGeom>
          <a:solidFill>
            <a:srgbClr val="162019"/>
          </a:solidFill>
          <a:ln w="12700">
            <a:solidFill>
              <a:srgbClr val="E02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4937760"/>
            <a:ext cx="164592" cy="1005840"/>
          </a:xfrm>
          <a:prstGeom prst="rect">
            <a:avLst/>
          </a:prstGeom>
          <a:solidFill>
            <a:srgbClr val="E0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501091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Vercel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54406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29087"/>
                </a:solidFill>
              </a:rPr>
              <a:t>Global CDN · Zero-config deployment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4937760"/>
            <a:ext cx="5577840" cy="1005840"/>
          </a:xfrm>
          <a:prstGeom prst="rect">
            <a:avLst/>
          </a:prstGeom>
          <a:solidFill>
            <a:srgbClr val="16201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00800" y="4937760"/>
            <a:ext cx="164592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20840" y="501091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GitHub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0840" y="54406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29087"/>
                </a:solidFill>
              </a:rPr>
              <a:t>Version control · CI/CD ready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29087"/>
                </a:solidFill>
              </a:rP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B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7238" cy="73152"/>
          </a:xfrm>
          <a:prstGeom prst="rect">
            <a:avLst/>
          </a:prstGeom>
          <a:solidFill>
            <a:srgbClr val="E0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238" y="0"/>
            <a:ext cx="3047238" cy="73152"/>
          </a:xfrm>
          <a:prstGeom prst="rect">
            <a:avLst/>
          </a:prstGeom>
          <a:solidFill>
            <a:srgbClr val="00B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4476" y="0"/>
            <a:ext cx="3047238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1714" y="0"/>
            <a:ext cx="3047238" cy="73152"/>
          </a:xfrm>
          <a:prstGeom prst="rect">
            <a:avLst/>
          </a:prstGeom>
          <a:solidFill>
            <a:srgbClr val="070B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What This POC Proves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686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B05C"/>
                </a:solidFill>
              </a:rPr>
              <a:t>All core capabilities validated end-to-end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5577840" cy="777240"/>
          </a:xfrm>
          <a:prstGeom prst="rect">
            <a:avLst/>
          </a:prstGeom>
          <a:solidFill>
            <a:srgbClr val="162019"/>
          </a:solidFill>
          <a:ln w="9525">
            <a:solidFill>
              <a:srgbClr val="00B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536192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Real-time slot availability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1536192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00B05C"/>
                </a:solidFill>
              </a:rPr>
              <a:t>✅ Live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371600"/>
            <a:ext cx="5577840" cy="777240"/>
          </a:xfrm>
          <a:prstGeom prst="rect">
            <a:avLst/>
          </a:prstGeom>
          <a:solidFill>
            <a:srgbClr val="162019"/>
          </a:solidFill>
          <a:ln w="9525">
            <a:solidFill>
              <a:srgbClr val="00B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536192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No double-booking (transactions)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1536192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00B05C"/>
                </a:solidFill>
              </a:rPr>
              <a:t>✅ Live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331720"/>
            <a:ext cx="5577840" cy="777240"/>
          </a:xfrm>
          <a:prstGeom prst="rect">
            <a:avLst/>
          </a:prstGeom>
          <a:solidFill>
            <a:srgbClr val="162019"/>
          </a:solidFill>
          <a:ln w="9525">
            <a:solidFill>
              <a:srgbClr val="00B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496312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Time-based booking with expiry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2496312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00B05C"/>
                </a:solidFill>
              </a:rPr>
              <a:t>✅ Live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2331720"/>
            <a:ext cx="5577840" cy="777240"/>
          </a:xfrm>
          <a:prstGeom prst="rect">
            <a:avLst/>
          </a:prstGeom>
          <a:solidFill>
            <a:srgbClr val="162019"/>
          </a:solidFill>
          <a:ln w="9525">
            <a:solidFill>
              <a:srgbClr val="00B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2496312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Auto-release expired bookings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2496312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00B05C"/>
                </a:solidFill>
              </a:rPr>
              <a:t>✅ Live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291840"/>
            <a:ext cx="5577840" cy="777240"/>
          </a:xfrm>
          <a:prstGeom prst="rect">
            <a:avLst/>
          </a:prstGeom>
          <a:solidFill>
            <a:srgbClr val="162019"/>
          </a:solidFill>
          <a:ln w="9525">
            <a:solidFill>
              <a:srgbClr val="00B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56432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QR entry validation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3456432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00B05C"/>
                </a:solidFill>
              </a:rPr>
              <a:t>✅ Live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3291840"/>
            <a:ext cx="5577840" cy="777240"/>
          </a:xfrm>
          <a:prstGeom prst="rect">
            <a:avLst/>
          </a:prstGeom>
          <a:solidFill>
            <a:srgbClr val="162019"/>
          </a:solidFill>
          <a:ln w="9525">
            <a:solidFill>
              <a:srgbClr val="00B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3456432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Prepaid payment flow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3456432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00B05C"/>
                </a:solidFill>
              </a:rPr>
              <a:t>✅ Mock ready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251960"/>
            <a:ext cx="5577840" cy="777240"/>
          </a:xfrm>
          <a:prstGeom prst="rect">
            <a:avLst/>
          </a:prstGeom>
          <a:solidFill>
            <a:srgbClr val="162019"/>
          </a:solidFill>
          <a:ln w="9525">
            <a:solidFill>
              <a:srgbClr val="00B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416552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Multi-location support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0" y="4416552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00B05C"/>
                </a:solidFill>
              </a:rPr>
              <a:t>✅ Live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4251960"/>
            <a:ext cx="5577840" cy="777240"/>
          </a:xfrm>
          <a:prstGeom prst="rect">
            <a:avLst/>
          </a:prstGeom>
          <a:solidFill>
            <a:srgbClr val="162019"/>
          </a:solidFill>
          <a:ln w="9525">
            <a:solidFill>
              <a:srgbClr val="00B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4416552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Web + Mobile (one codebase)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81360" y="4416552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00B05C"/>
                </a:solidFill>
              </a:rPr>
              <a:t>✅ Flutter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212080"/>
            <a:ext cx="5577840" cy="777240"/>
          </a:xfrm>
          <a:prstGeom prst="rect">
            <a:avLst/>
          </a:prstGeom>
          <a:solidFill>
            <a:srgbClr val="162019"/>
          </a:solidFill>
          <a:ln w="9525">
            <a:solidFill>
              <a:srgbClr val="00B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376672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Google Sign-In Auth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37760" y="5376672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00B05C"/>
                </a:solidFill>
              </a:rPr>
              <a:t>✅ Live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5212080"/>
            <a:ext cx="5577840" cy="777240"/>
          </a:xfrm>
          <a:prstGeom prst="rect">
            <a:avLst/>
          </a:prstGeom>
          <a:solidFill>
            <a:srgbClr val="162019"/>
          </a:solidFill>
          <a:ln w="9525">
            <a:solidFill>
              <a:srgbClr val="00B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0" y="5376672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Cloud Firestore backend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81360" y="5376672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00B05C"/>
                </a:solidFill>
              </a:rPr>
              <a:t>✅ Live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29087"/>
                </a:solidFill>
              </a:rP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B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7238" cy="73152"/>
          </a:xfrm>
          <a:prstGeom prst="rect">
            <a:avLst/>
          </a:prstGeom>
          <a:solidFill>
            <a:srgbClr val="E0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238" y="0"/>
            <a:ext cx="3047238" cy="73152"/>
          </a:xfrm>
          <a:prstGeom prst="rect">
            <a:avLst/>
          </a:prstGeom>
          <a:solidFill>
            <a:srgbClr val="00B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4476" y="0"/>
            <a:ext cx="3047238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1714" y="0"/>
            <a:ext cx="3047238" cy="73152"/>
          </a:xfrm>
          <a:prstGeom prst="rect">
            <a:avLst/>
          </a:prstGeom>
          <a:solidFill>
            <a:srgbClr val="070B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Business 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686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B05C"/>
                </a:solidFill>
              </a:rPr>
              <a:t>Operator &amp; driver benefits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2743200" cy="2286000"/>
          </a:xfrm>
          <a:prstGeom prst="rect">
            <a:avLst/>
          </a:prstGeom>
          <a:solidFill>
            <a:srgbClr val="162019"/>
          </a:solidFill>
          <a:ln w="19050">
            <a:solidFill>
              <a:srgbClr val="00B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55448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00B05C"/>
                </a:solidFill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146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29087"/>
                </a:solidFill>
              </a:rPr>
              <a:t>Hardware needed
for MVP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1371600"/>
            <a:ext cx="2743200" cy="2286000"/>
          </a:xfrm>
          <a:prstGeom prst="rect">
            <a:avLst/>
          </a:prstGeom>
          <a:solidFill>
            <a:srgbClr val="162019"/>
          </a:solidFill>
          <a:ln w="19050">
            <a:solidFill>
              <a:srgbClr val="00B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155448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00B05C"/>
                </a:solidFill>
              </a:rP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5146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29087"/>
                </a:solidFill>
              </a:rPr>
              <a:t>Digital audit
trail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371600"/>
            <a:ext cx="2743200" cy="2286000"/>
          </a:xfrm>
          <a:prstGeom prst="rect">
            <a:avLst/>
          </a:prstGeom>
          <a:solidFill>
            <a:srgbClr val="162019"/>
          </a:solidFill>
          <a:ln w="19050">
            <a:solidFill>
              <a:srgbClr val="E02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55448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E02A3C"/>
                </a:solidFill>
              </a:rPr>
              <a:t>AED 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5146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29087"/>
                </a:solidFill>
              </a:rPr>
              <a:t>Infrastructure
cost (POC)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35440" y="1371600"/>
            <a:ext cx="2743200" cy="2286000"/>
          </a:xfrm>
          <a:prstGeom prst="rect">
            <a:avLst/>
          </a:prstGeom>
          <a:solidFill>
            <a:srgbClr val="162019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0" y="155448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</a:rPr>
              <a:t>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25146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29087"/>
                </a:solidFill>
              </a:rPr>
              <a:t>Locations
scalable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886200"/>
            <a:ext cx="11247120" cy="594360"/>
          </a:xfrm>
          <a:prstGeom prst="rect">
            <a:avLst/>
          </a:prstGeom>
          <a:solidFill>
            <a:srgbClr val="162019"/>
          </a:solidFill>
          <a:ln w="6350">
            <a:solidFill>
              <a:srgbClr val="00B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977639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05C"/>
                </a:solidFill>
              </a:rPr>
              <a:t>💰 Revenue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3977639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Prepaid model eliminates revenue leakage. Every minute of parking captured.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572000"/>
            <a:ext cx="11247120" cy="594360"/>
          </a:xfrm>
          <a:prstGeom prst="rect">
            <a:avLst/>
          </a:prstGeom>
          <a:solidFill>
            <a:srgbClr val="162019"/>
          </a:solidFill>
          <a:ln w="6350">
            <a:solidFill>
              <a:srgbClr val="00B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6634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05C"/>
                </a:solidFill>
              </a:rPr>
              <a:t>👮 Operations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1760" y="4663440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Guards need zero training. Scan QR on any phone — no hardware required.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257800"/>
            <a:ext cx="11247120" cy="594360"/>
          </a:xfrm>
          <a:prstGeom prst="rect">
            <a:avLst/>
          </a:prstGeom>
          <a:solidFill>
            <a:srgbClr val="162019"/>
          </a:solidFill>
          <a:ln w="6350">
            <a:solidFill>
              <a:srgbClr val="00B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3492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05C"/>
                </a:solidFill>
              </a:rPr>
              <a:t>🚗 Drivers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51760" y="5349240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Book from home, guaranteed spot, no cash, no queues at entry.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943600"/>
            <a:ext cx="11247120" cy="594360"/>
          </a:xfrm>
          <a:prstGeom prst="rect">
            <a:avLst/>
          </a:prstGeom>
          <a:solidFill>
            <a:srgbClr val="162019"/>
          </a:solidFill>
          <a:ln w="6350">
            <a:solidFill>
              <a:srgbClr val="00B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60350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05C"/>
                </a:solidFill>
              </a:rPr>
              <a:t>📊 Operators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51760" y="6035040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Full booking history, occupancy rates, peak hours — all in real-time.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29087"/>
                </a:solidFill>
              </a:rP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B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7238" cy="73152"/>
          </a:xfrm>
          <a:prstGeom prst="rect">
            <a:avLst/>
          </a:prstGeom>
          <a:solidFill>
            <a:srgbClr val="E0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238" y="0"/>
            <a:ext cx="3047238" cy="73152"/>
          </a:xfrm>
          <a:prstGeom prst="rect">
            <a:avLst/>
          </a:prstGeom>
          <a:solidFill>
            <a:srgbClr val="00B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4476" y="0"/>
            <a:ext cx="3047238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1714" y="0"/>
            <a:ext cx="3047238" cy="73152"/>
          </a:xfrm>
          <a:prstGeom prst="rect">
            <a:avLst/>
          </a:prstGeom>
          <a:solidFill>
            <a:srgbClr val="070B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Roadmap to Production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686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B05C"/>
                </a:solidFill>
              </a:rPr>
              <a:t>From POC to live product in 8-12 weeks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2743200" cy="5029200"/>
          </a:xfrm>
          <a:prstGeom prst="rect">
            <a:avLst/>
          </a:prstGeom>
          <a:solidFill>
            <a:srgbClr val="162019"/>
          </a:solidFill>
          <a:ln w="19050">
            <a:solidFill>
              <a:srgbClr val="E02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371600"/>
            <a:ext cx="2743200" cy="777240"/>
          </a:xfrm>
          <a:prstGeom prst="rect">
            <a:avLst/>
          </a:prstGeom>
          <a:solidFill>
            <a:srgbClr val="E0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41732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Phase 1
Weeks 1-2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3317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→  Real payment gateway (Telr/Stripe)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56616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→  Push notifications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80060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→  Arabic language support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37560" y="1371600"/>
            <a:ext cx="2743200" cy="5029200"/>
          </a:xfrm>
          <a:prstGeom prst="rect">
            <a:avLst/>
          </a:prstGeom>
          <a:solidFill>
            <a:srgbClr val="162019"/>
          </a:solidFill>
          <a:ln w="19050">
            <a:solidFill>
              <a:srgbClr val="00B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37560" y="1371600"/>
            <a:ext cx="2743200" cy="777240"/>
          </a:xfrm>
          <a:prstGeom prst="rect">
            <a:avLst/>
          </a:prstGeom>
          <a:solidFill>
            <a:srgbClr val="00B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0" y="141732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70B08"/>
                </a:solidFill>
              </a:rPr>
              <a:t>Phase 2
Weeks 3-5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23317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→  Admin dashboard &amp; reports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356616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→  iOS + Android apps (App Store)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480060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→  Multiple rate tiers per location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1371600"/>
            <a:ext cx="2743200" cy="5029200"/>
          </a:xfrm>
          <a:prstGeom prst="rect">
            <a:avLst/>
          </a:prstGeom>
          <a:solidFill>
            <a:srgbClr val="162019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1371600"/>
            <a:ext cx="27432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141732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70B08"/>
                </a:solidFill>
              </a:rPr>
              <a:t>Phase 3
Weeks 6-8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3317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→  Barrier/gate hardware integration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56616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→  License plate recognition (ANPR)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80060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→  IoT sensors for each parking slot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81160" y="1371600"/>
            <a:ext cx="2743200" cy="5029200"/>
          </a:xfrm>
          <a:prstGeom prst="rect">
            <a:avLst/>
          </a:prstGeom>
          <a:solidFill>
            <a:srgbClr val="162019"/>
          </a:solidFill>
          <a:ln w="19050">
            <a:solidFill>
              <a:srgbClr val="8290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281160" y="1371600"/>
            <a:ext cx="2743200" cy="777240"/>
          </a:xfrm>
          <a:prstGeom prst="rect">
            <a:avLst/>
          </a:prstGeom>
          <a:solidFill>
            <a:srgbClr val="829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0" y="141732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Phase 4
Weeks 9-12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64040" y="23317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→  AI camera slot detection in lot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64040" y="356616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→  Heatmap analytics &amp; prediction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64040" y="480060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→  Multi-city rollout &amp; corporate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29087"/>
                </a:solidFill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B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0"/>
            <a:ext cx="12188952" cy="3017520"/>
          </a:xfrm>
          <a:prstGeom prst="rect">
            <a:avLst/>
          </a:prstGeom>
          <a:solidFill>
            <a:srgbClr val="00B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0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515600" y="274320"/>
            <a:ext cx="91440" cy="1005840"/>
          </a:xfrm>
          <a:prstGeom prst="rect">
            <a:avLst/>
          </a:prstGeom>
          <a:solidFill>
            <a:srgbClr val="E0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607040" y="274320"/>
            <a:ext cx="1463040" cy="338328"/>
          </a:xfrm>
          <a:prstGeom prst="rect">
            <a:avLst/>
          </a:prstGeom>
          <a:solidFill>
            <a:srgbClr val="00B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07040" y="612648"/>
            <a:ext cx="146304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607040" y="950976"/>
            <a:ext cx="1463040" cy="338328"/>
          </a:xfrm>
          <a:prstGeom prst="rect">
            <a:avLst/>
          </a:prstGeom>
          <a:solidFill>
            <a:srgbClr val="070B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9144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</a:rPr>
              <a:t>Ready to Go Live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829087"/>
                </a:solidFill>
              </a:rPr>
              <a:t>The foundation is built. The POC is live.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06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We need: a pilot location · payment gateway · your green light.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06908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70B08"/>
                </a:solidFill>
              </a:rPr>
              <a:t>🌐  Live Demo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26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70B08"/>
                </a:solidFill>
              </a:rPr>
              <a:t>smartpark-lac.vercel.app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0690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70B08"/>
                </a:solidFill>
              </a:rPr>
              <a:t>💻  Source Code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526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70B08"/>
                </a:solidFill>
              </a:rPr>
              <a:t>github.com/vansan/smartpark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5778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70B08"/>
                </a:solidFill>
              </a:rPr>
              <a:t>Questions?  Let's discuss next steps. 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29087"/>
                </a:solidFill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